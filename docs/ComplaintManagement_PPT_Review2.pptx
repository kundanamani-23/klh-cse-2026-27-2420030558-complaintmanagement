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60" r:id="rId3"/>
    <p:sldId id="273" r:id="rId4"/>
    <p:sldId id="275" r:id="rId5"/>
    <p:sldId id="276" r:id="rId6"/>
    <p:sldId id="277" r:id="rId7"/>
    <p:sldId id="278" r:id="rId8"/>
    <p:sldId id="279" r:id="rId9"/>
    <p:sldId id="280" r:id="rId10"/>
    <p:sldId id="265" r:id="rId11"/>
  </p:sldIdLst>
  <p:sldSz cx="18288000" cy="10287000"/>
  <p:notesSz cx="6858000" cy="9144000"/>
  <p:embeddedFontLst>
    <p:embeddedFont>
      <p:font typeface="Prata" panose="020B0604020202020204" charset="0"/>
      <p:regular r:id="rId13"/>
    </p:embeddedFont>
    <p:embeddedFont>
      <p:font typeface="Raleway"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B18A"/>
    <a:srgbClr val="DAD7CD"/>
    <a:srgbClr val="91B44A"/>
    <a:srgbClr val="679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738" autoAdjust="0"/>
  </p:normalViewPr>
  <p:slideViewPr>
    <p:cSldViewPr>
      <p:cViewPr varScale="1">
        <p:scale>
          <a:sx n="39" d="100"/>
          <a:sy n="39" d="100"/>
        </p:scale>
        <p:origin x="9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E6CA9-397A-4E5A-A759-0034275F8D08}"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1B677-E104-40AF-8F31-261290023787}" type="slidenum">
              <a:rPr lang="en-IN" smtClean="0"/>
              <a:t>‹#›</a:t>
            </a:fld>
            <a:endParaRPr lang="en-IN"/>
          </a:p>
        </p:txBody>
      </p:sp>
    </p:spTree>
    <p:extLst>
      <p:ext uri="{BB962C8B-B14F-4D97-AF65-F5344CB8AC3E}">
        <p14:creationId xmlns:p14="http://schemas.microsoft.com/office/powerpoint/2010/main" val="292473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Good morning everyone.</a:t>
            </a:r>
          </a:p>
          <a:p>
            <a:r>
              <a:rPr lang="en-IN" b="0" dirty="0"/>
              <a:t>Our project is titled AI-Powered Banking Customer Complaint Management System using BERT.</a:t>
            </a:r>
          </a:p>
          <a:p>
            <a:r>
              <a:rPr lang="en-IN" b="0" dirty="0"/>
              <a:t>The objective of this project is to automate the complete complaint management process in banks using Artificial Intelligence.</a:t>
            </a:r>
          </a:p>
          <a:p>
            <a:r>
              <a:rPr lang="en-IN" b="0" dirty="0"/>
              <a:t>Instead of manually reading complaints, our system uses the BERT language model to understand complaint narratives, classify them into multiple categories, and automatically generate ticket information, assign departments, prioritize complaints, and provide dashboards for customers, employees, and administrators.</a:t>
            </a:r>
          </a:p>
          <a:p>
            <a:endParaRPr lang="en-IN" b="0" dirty="0"/>
          </a:p>
        </p:txBody>
      </p:sp>
      <p:sp>
        <p:nvSpPr>
          <p:cNvPr id="4" name="Slide Number Placeholder 3"/>
          <p:cNvSpPr>
            <a:spLocks noGrp="1"/>
          </p:cNvSpPr>
          <p:nvPr>
            <p:ph type="sldNum" sz="quarter" idx="5"/>
          </p:nvPr>
        </p:nvSpPr>
        <p:spPr/>
        <p:txBody>
          <a:bodyPr/>
          <a:lstStyle/>
          <a:p>
            <a:fld id="{5451B677-E104-40AF-8F31-261290023787}" type="slidenum">
              <a:rPr lang="en-IN" smtClean="0"/>
              <a:t>1</a:t>
            </a:fld>
            <a:endParaRPr lang="en-IN"/>
          </a:p>
        </p:txBody>
      </p:sp>
    </p:spTree>
    <p:extLst>
      <p:ext uri="{BB962C8B-B14F-4D97-AF65-F5344CB8AC3E}">
        <p14:creationId xmlns:p14="http://schemas.microsoft.com/office/powerpoint/2010/main" val="303029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2DCD-D099-0965-4FA3-2FED4481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0D597-19C4-34A0-2BF5-379B8678E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96682-416C-7DEF-BE62-0FA050C3B659}"/>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E4F7B6D4-0946-DE09-D255-61BE492B8C3B}"/>
              </a:ext>
            </a:extLst>
          </p:cNvPr>
          <p:cNvSpPr>
            <a:spLocks noGrp="1"/>
          </p:cNvSpPr>
          <p:nvPr>
            <p:ph type="sldNum" sz="quarter" idx="5"/>
          </p:nvPr>
        </p:nvSpPr>
        <p:spPr/>
        <p:txBody>
          <a:bodyPr/>
          <a:lstStyle/>
          <a:p>
            <a:fld id="{5451B677-E104-40AF-8F31-261290023787}" type="slidenum">
              <a:rPr lang="en-IN" smtClean="0"/>
              <a:t>3</a:t>
            </a:fld>
            <a:endParaRPr lang="en-IN"/>
          </a:p>
        </p:txBody>
      </p:sp>
    </p:spTree>
    <p:extLst>
      <p:ext uri="{BB962C8B-B14F-4D97-AF65-F5344CB8AC3E}">
        <p14:creationId xmlns:p14="http://schemas.microsoft.com/office/powerpoint/2010/main" val="988389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4</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1F57-061E-EDA1-C462-4C39AB7FE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2E134-29C9-D5B6-91E6-78F10A7A68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43B8F-7FD7-5C39-AAC9-D2A0862BBE23}"/>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2CBA413F-59A4-6B47-2A7E-5FC6A093E5F7}"/>
              </a:ext>
            </a:extLst>
          </p:cNvPr>
          <p:cNvSpPr>
            <a:spLocks noGrp="1"/>
          </p:cNvSpPr>
          <p:nvPr>
            <p:ph type="sldNum" sz="quarter" idx="5"/>
          </p:nvPr>
        </p:nvSpPr>
        <p:spPr/>
        <p:txBody>
          <a:bodyPr/>
          <a:lstStyle/>
          <a:p>
            <a:fld id="{5451B677-E104-40AF-8F31-261290023787}" type="slidenum">
              <a:rPr lang="en-IN" smtClean="0"/>
              <a:t>5</a:t>
            </a:fld>
            <a:endParaRPr lang="en-IN"/>
          </a:p>
        </p:txBody>
      </p:sp>
    </p:spTree>
    <p:extLst>
      <p:ext uri="{BB962C8B-B14F-4D97-AF65-F5344CB8AC3E}">
        <p14:creationId xmlns:p14="http://schemas.microsoft.com/office/powerpoint/2010/main" val="302778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C6E4-4885-DD5F-92DB-C5B00F54C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AEFC2-7EFD-98F6-C22F-53B53B0F3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F9E23-074B-407C-B06E-107730A4F3FD}"/>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D13DBB93-1A34-785A-A4A5-0C8B9ADDDAAD}"/>
              </a:ext>
            </a:extLst>
          </p:cNvPr>
          <p:cNvSpPr>
            <a:spLocks noGrp="1"/>
          </p:cNvSpPr>
          <p:nvPr>
            <p:ph type="sldNum" sz="quarter" idx="5"/>
          </p:nvPr>
        </p:nvSpPr>
        <p:spPr/>
        <p:txBody>
          <a:bodyPr/>
          <a:lstStyle/>
          <a:p>
            <a:fld id="{5451B677-E104-40AF-8F31-261290023787}" type="slidenum">
              <a:rPr lang="en-IN" smtClean="0"/>
              <a:t>6</a:t>
            </a:fld>
            <a:endParaRPr lang="en-IN"/>
          </a:p>
        </p:txBody>
      </p:sp>
    </p:spTree>
    <p:extLst>
      <p:ext uri="{BB962C8B-B14F-4D97-AF65-F5344CB8AC3E}">
        <p14:creationId xmlns:p14="http://schemas.microsoft.com/office/powerpoint/2010/main" val="91578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7</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14204-1482-D0D0-0A6C-060F43148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A5A7E-3880-6331-42A3-7C77F5C83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FC8F3-7159-951C-20BD-E3F5CEF3F84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EA8C31CF-AE09-ED55-4B33-92AF8CB7AA45}"/>
              </a:ext>
            </a:extLst>
          </p:cNvPr>
          <p:cNvSpPr>
            <a:spLocks noGrp="1"/>
          </p:cNvSpPr>
          <p:nvPr>
            <p:ph type="sldNum" sz="quarter" idx="5"/>
          </p:nvPr>
        </p:nvSpPr>
        <p:spPr/>
        <p:txBody>
          <a:bodyPr/>
          <a:lstStyle/>
          <a:p>
            <a:fld id="{5451B677-E104-40AF-8F31-261290023787}" type="slidenum">
              <a:rPr lang="en-IN" smtClean="0"/>
              <a:t>8</a:t>
            </a:fld>
            <a:endParaRPr lang="en-IN"/>
          </a:p>
        </p:txBody>
      </p:sp>
    </p:spTree>
    <p:extLst>
      <p:ext uri="{BB962C8B-B14F-4D97-AF65-F5344CB8AC3E}">
        <p14:creationId xmlns:p14="http://schemas.microsoft.com/office/powerpoint/2010/main" val="291308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534A-3B48-E7E5-8BA0-27D06DAD0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9863A-67B6-7773-18A6-6025528C1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676ED-9B8D-834B-6810-D0B0D2905EF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35406DC-8297-F453-47C8-6102A0325EEA}"/>
              </a:ext>
            </a:extLst>
          </p:cNvPr>
          <p:cNvSpPr>
            <a:spLocks noGrp="1"/>
          </p:cNvSpPr>
          <p:nvPr>
            <p:ph type="sldNum" sz="quarter" idx="5"/>
          </p:nvPr>
        </p:nvSpPr>
        <p:spPr/>
        <p:txBody>
          <a:bodyPr/>
          <a:lstStyle/>
          <a:p>
            <a:fld id="{5451B677-E104-40AF-8F31-261290023787}" type="slidenum">
              <a:rPr lang="en-IN" smtClean="0"/>
              <a:t>9</a:t>
            </a:fld>
            <a:endParaRPr lang="en-IN"/>
          </a:p>
        </p:txBody>
      </p:sp>
    </p:spTree>
    <p:extLst>
      <p:ext uri="{BB962C8B-B14F-4D97-AF65-F5344CB8AC3E}">
        <p14:creationId xmlns:p14="http://schemas.microsoft.com/office/powerpoint/2010/main" val="327038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667000" y="1648825"/>
            <a:ext cx="12734892" cy="5713102"/>
          </a:xfrm>
          <a:prstGeom prst="rect">
            <a:avLst/>
          </a:prstGeom>
        </p:spPr>
        <p:txBody>
          <a:bodyPr lIns="0" tIns="0" rIns="0" bIns="0" rtlCol="0" anchor="t">
            <a:spAutoFit/>
          </a:bodyPr>
          <a:lstStyle/>
          <a:p>
            <a:pPr algn="ctr">
              <a:lnSpc>
                <a:spcPts val="11400"/>
              </a:lnSpc>
            </a:pPr>
            <a:r>
              <a:rPr lang="en-IN" sz="6600" b="1" dirty="0">
                <a:solidFill>
                  <a:schemeClr val="accent3">
                    <a:lumMod val="50000"/>
                  </a:schemeClr>
                </a:solidFill>
                <a:latin typeface="Prata" panose="020B0604020202020204" charset="0"/>
              </a:rPr>
              <a:t>AI-POWERED BANKING CUSTOMER COMPLAINT MANAGEMENT SYSTEM USING BERT</a:t>
            </a:r>
            <a:endParaRPr lang="en-US" sz="7200" b="1" dirty="0">
              <a:solidFill>
                <a:schemeClr val="accent3">
                  <a:lumMod val="50000"/>
                </a:schemeClr>
              </a:solidFill>
              <a:latin typeface="Prata" panose="020B0604020202020204" charset="0"/>
              <a:ea typeface="Prata"/>
              <a:cs typeface="Prata"/>
              <a:sym typeface="Prata"/>
            </a:endParaRPr>
          </a:p>
        </p:txBody>
      </p:sp>
      <p:grpSp>
        <p:nvGrpSpPr>
          <p:cNvPr id="3" name="Group 3"/>
          <p:cNvGrpSpPr/>
          <p:nvPr/>
        </p:nvGrpSpPr>
        <p:grpSpPr>
          <a:xfrm>
            <a:off x="0" y="8724900"/>
            <a:ext cx="18288000" cy="15621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3182600" y="8877300"/>
            <a:ext cx="4953000" cy="1272656"/>
          </a:xfrm>
          <a:prstGeom prst="rect">
            <a:avLst/>
          </a:prstGeom>
        </p:spPr>
        <p:txBody>
          <a:bodyPr wrap="square"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Presentation by:</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B. Kundana Mani (2420030558)</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M. Sai Kridhay Kumar (2420030211)</a:t>
            </a:r>
          </a:p>
        </p:txBody>
      </p:sp>
      <p:pic>
        <p:nvPicPr>
          <p:cNvPr id="12" name="Picture 11">
            <a:extLst>
              <a:ext uri="{FF2B5EF4-FFF2-40B4-BE49-F238E27FC236}">
                <a16:creationId xmlns:a16="http://schemas.microsoft.com/office/drawing/2014/main" id="{379974A4-61A3-EAF9-0BB4-A555249B8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0961" y="-190500"/>
            <a:ext cx="4419600" cy="4419600"/>
          </a:xfrm>
          <a:prstGeom prst="rect">
            <a:avLst/>
          </a:prstGeom>
        </p:spPr>
      </p:pic>
      <p:pic>
        <p:nvPicPr>
          <p:cNvPr id="14" name="Picture 13">
            <a:extLst>
              <a:ext uri="{FF2B5EF4-FFF2-40B4-BE49-F238E27FC236}">
                <a16:creationId xmlns:a16="http://schemas.microsoft.com/office/drawing/2014/main" id="{16D97E24-C5C3-05EE-A0B9-E65D7339D3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2550" y="5753100"/>
            <a:ext cx="2705100" cy="2705100"/>
          </a:xfrm>
          <a:prstGeom prst="rect">
            <a:avLst/>
          </a:prstGeom>
        </p:spPr>
      </p:pic>
      <p:pic>
        <p:nvPicPr>
          <p:cNvPr id="6" name="Picture 5">
            <a:extLst>
              <a:ext uri="{FF2B5EF4-FFF2-40B4-BE49-F238E27FC236}">
                <a16:creationId xmlns:a16="http://schemas.microsoft.com/office/drawing/2014/main" id="{B1323845-B110-57C7-5554-C9B4B43B41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81" y="10783"/>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C447B2CA-1DFC-4815-F585-0A6330E07A4A}"/>
              </a:ext>
            </a:extLst>
          </p:cNvPr>
          <p:cNvSpPr/>
          <p:nvPr/>
        </p:nvSpPr>
        <p:spPr>
          <a:xfrm>
            <a:off x="-6254918" y="-1304539"/>
            <a:ext cx="12509836" cy="12272833"/>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p:cNvSpPr txBox="1"/>
          <p:nvPr/>
        </p:nvSpPr>
        <p:spPr>
          <a:xfrm>
            <a:off x="753476" y="4133610"/>
            <a:ext cx="5767660" cy="1396536"/>
          </a:xfrm>
          <a:prstGeom prst="rect">
            <a:avLst/>
          </a:prstGeom>
        </p:spPr>
        <p:txBody>
          <a:bodyPr wrap="square" lIns="0" tIns="0" rIns="0" bIns="0" rtlCol="0" anchor="t">
            <a:spAutoFit/>
          </a:bodyPr>
          <a:lstStyle/>
          <a:p>
            <a:pPr algn="ctr">
              <a:lnSpc>
                <a:spcPct val="150000"/>
              </a:lnSpc>
            </a:pPr>
            <a:r>
              <a:rPr lang="en-IN" sz="6600" b="1" dirty="0">
                <a:latin typeface="Prata" panose="020B0604020202020204" charset="0"/>
              </a:rPr>
              <a:t>CORA</a:t>
            </a:r>
            <a:endParaRPr lang="en-US" sz="6600" b="1" dirty="0">
              <a:solidFill>
                <a:srgbClr val="344E41"/>
              </a:solidFill>
              <a:latin typeface="Prata" panose="020B0604020202020204" charset="0"/>
              <a:ea typeface="Prata"/>
              <a:cs typeface="Prata"/>
              <a:sym typeface="Prata"/>
            </a:endParaRP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2</a:t>
            </a:r>
          </a:p>
        </p:txBody>
      </p:sp>
      <p:pic>
        <p:nvPicPr>
          <p:cNvPr id="20" name="Picture 19">
            <a:extLst>
              <a:ext uri="{FF2B5EF4-FFF2-40B4-BE49-F238E27FC236}">
                <a16:creationId xmlns:a16="http://schemas.microsoft.com/office/drawing/2014/main" id="{730917DD-627B-9BB1-E09E-0830E29D9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 y="0"/>
            <a:ext cx="2395447" cy="1200650"/>
          </a:xfrm>
          <a:prstGeom prst="rect">
            <a:avLst/>
          </a:prstGeom>
          <a:noFill/>
          <a:ln>
            <a:noFill/>
          </a:ln>
        </p:spPr>
      </p:pic>
      <p:sp>
        <p:nvSpPr>
          <p:cNvPr id="7" name="TextBox 6">
            <a:extLst>
              <a:ext uri="{FF2B5EF4-FFF2-40B4-BE49-F238E27FC236}">
                <a16:creationId xmlns:a16="http://schemas.microsoft.com/office/drawing/2014/main" id="{11108FC2-95E2-E30B-45F4-9D8737780B5A}"/>
              </a:ext>
            </a:extLst>
          </p:cNvPr>
          <p:cNvSpPr txBox="1"/>
          <p:nvPr/>
        </p:nvSpPr>
        <p:spPr>
          <a:xfrm>
            <a:off x="6493868" y="952500"/>
            <a:ext cx="11555182" cy="7392473"/>
          </a:xfrm>
          <a:prstGeom prst="rect">
            <a:avLst/>
          </a:prstGeom>
          <a:noFill/>
        </p:spPr>
        <p:txBody>
          <a:bodyPr wrap="square">
            <a:spAutoFit/>
          </a:bodyPr>
          <a:lstStyle/>
          <a:p>
            <a:pPr algn="just">
              <a:lnSpc>
                <a:spcPct val="150000"/>
              </a:lnSpc>
            </a:pPr>
            <a:r>
              <a:rPr lang="en-IN" sz="3200" b="1" i="1" dirty="0">
                <a:latin typeface="Raleway" panose="020B0604020202020204" charset="0"/>
              </a:rPr>
              <a:t>Complaint Orchestration and Routing Architecture</a:t>
            </a:r>
            <a:endParaRPr lang="en-IN" sz="3200" b="1" dirty="0">
              <a:latin typeface="Raleway" panose="020B0604020202020204" charset="0"/>
            </a:endParaRPr>
          </a:p>
          <a:p>
            <a:pPr algn="just">
              <a:lnSpc>
                <a:spcPct val="150000"/>
              </a:lnSpc>
            </a:pPr>
            <a:r>
              <a:rPr lang="en-IN" sz="3200" b="1" dirty="0">
                <a:latin typeface="Raleway" panose="020B0604020202020204" charset="0"/>
              </a:rPr>
              <a:t>What is CORA?</a:t>
            </a:r>
            <a:endParaRPr lang="en-IN" sz="3200" dirty="0">
              <a:latin typeface="Raleway" panose="020B0604020202020204" charset="0"/>
            </a:endParaRPr>
          </a:p>
          <a:p>
            <a:pPr marL="457200" lvl="0" indent="-457200" algn="just">
              <a:lnSpc>
                <a:spcPct val="150000"/>
              </a:lnSpc>
              <a:buFont typeface="Arial" panose="020B0604020202020204" pitchFamily="34" charset="0"/>
              <a:buChar char="•"/>
            </a:pPr>
            <a:r>
              <a:rPr lang="en-IN" sz="3200" dirty="0">
                <a:latin typeface="Raleway" panose="020B0604020202020204" charset="0"/>
              </a:rPr>
              <a:t>An </a:t>
            </a:r>
            <a:r>
              <a:rPr lang="en-IN" sz="3200" b="1" dirty="0">
                <a:latin typeface="Raleway" panose="020B0604020202020204" charset="0"/>
              </a:rPr>
              <a:t>AI-powered banking complaint management system</a:t>
            </a:r>
            <a:r>
              <a:rPr lang="en-IN" sz="3200" dirty="0">
                <a:latin typeface="Raleway" panose="020B0604020202020204" charset="0"/>
              </a:rPr>
              <a:t>. </a:t>
            </a:r>
          </a:p>
          <a:p>
            <a:pPr marL="457200" lvl="0" indent="-457200" algn="just">
              <a:lnSpc>
                <a:spcPct val="150000"/>
              </a:lnSpc>
              <a:buFont typeface="Arial" panose="020B0604020202020204" pitchFamily="34" charset="0"/>
              <a:buChar char="•"/>
            </a:pPr>
            <a:r>
              <a:rPr lang="en-IN" sz="3200" dirty="0">
                <a:latin typeface="Raleway" panose="020B0604020202020204" charset="0"/>
              </a:rPr>
              <a:t>Uses </a:t>
            </a:r>
            <a:r>
              <a:rPr lang="en-IN" sz="3200" b="1" dirty="0">
                <a:latin typeface="Raleway" panose="020B0604020202020204" charset="0"/>
              </a:rPr>
              <a:t>BERT</a:t>
            </a:r>
            <a:r>
              <a:rPr lang="en-IN" sz="3200" dirty="0">
                <a:latin typeface="Raleway" panose="020B0604020202020204" charset="0"/>
              </a:rPr>
              <a:t> to understand customer complaint narratives. </a:t>
            </a:r>
          </a:p>
          <a:p>
            <a:pPr marL="457200" lvl="0" indent="-457200" algn="just">
              <a:lnSpc>
                <a:spcPct val="150000"/>
              </a:lnSpc>
              <a:buFont typeface="Arial" panose="020B0604020202020204" pitchFamily="34" charset="0"/>
              <a:buChar char="•"/>
            </a:pPr>
            <a:r>
              <a:rPr lang="en-IN" sz="3200" dirty="0">
                <a:latin typeface="Raleway" panose="020B0604020202020204" charset="0"/>
              </a:rPr>
              <a:t>Classifies complaints into four levels:</a:t>
            </a:r>
            <a:br>
              <a:rPr lang="en-IN" sz="3200" dirty="0">
                <a:latin typeface="Raleway" panose="020B0604020202020204" charset="0"/>
              </a:rPr>
            </a:br>
            <a:r>
              <a:rPr lang="en-IN" sz="3200" b="1" dirty="0">
                <a:latin typeface="Raleway" panose="020B0604020202020204" charset="0"/>
              </a:rPr>
              <a:t>Product → Sub-product → Issue → Sub-issue</a:t>
            </a:r>
            <a:r>
              <a:rPr lang="en-IN" sz="3200" dirty="0">
                <a:latin typeface="Raleway" panose="020B0604020202020204" charset="0"/>
              </a:rPr>
              <a:t> </a:t>
            </a:r>
          </a:p>
          <a:p>
            <a:pPr marL="457200" lvl="0" indent="-457200" algn="just">
              <a:lnSpc>
                <a:spcPct val="150000"/>
              </a:lnSpc>
              <a:buFont typeface="Arial" panose="020B0604020202020204" pitchFamily="34" charset="0"/>
              <a:buChar char="•"/>
            </a:pPr>
            <a:r>
              <a:rPr lang="en-IN" sz="3200" dirty="0">
                <a:latin typeface="Raleway" panose="020B0604020202020204" charset="0"/>
              </a:rPr>
              <a:t>Uses a </a:t>
            </a:r>
            <a:r>
              <a:rPr lang="en-IN" sz="3200" b="1" dirty="0">
                <a:latin typeface="Raleway" panose="020B0604020202020204" charset="0"/>
              </a:rPr>
              <a:t>Business Rule Engine</a:t>
            </a:r>
            <a:r>
              <a:rPr lang="en-IN" sz="3200" dirty="0">
                <a:latin typeface="Raleway" panose="020B0604020202020204" charset="0"/>
              </a:rPr>
              <a:t> to determine routing and priority. </a:t>
            </a:r>
          </a:p>
          <a:p>
            <a:pPr marL="457200" lvl="0" indent="-457200" algn="just">
              <a:lnSpc>
                <a:spcPct val="150000"/>
              </a:lnSpc>
              <a:buFont typeface="Arial" panose="020B0604020202020204" pitchFamily="34" charset="0"/>
              <a:buChar char="•"/>
            </a:pPr>
            <a:r>
              <a:rPr lang="en-IN" sz="3200" dirty="0">
                <a:latin typeface="Raleway" panose="020B0604020202020204" charset="0"/>
              </a:rPr>
              <a:t>Generates a </a:t>
            </a:r>
            <a:r>
              <a:rPr lang="en-IN" sz="3200" b="1" dirty="0">
                <a:latin typeface="Raleway" panose="020B0604020202020204" charset="0"/>
              </a:rPr>
              <a:t>ticket</a:t>
            </a:r>
            <a:r>
              <a:rPr lang="en-IN" sz="3200" dirty="0">
                <a:latin typeface="Raleway" panose="020B0604020202020204" charset="0"/>
              </a:rPr>
              <a:t> and supports complaint </a:t>
            </a:r>
            <a:r>
              <a:rPr lang="en-IN" sz="3200" b="1" dirty="0">
                <a:latin typeface="Raleway" panose="020B0604020202020204" charset="0"/>
              </a:rPr>
              <a:t>assignment, tracking and resolution</a:t>
            </a:r>
            <a:r>
              <a:rPr lang="en-IN" sz="3200" dirty="0">
                <a:latin typeface="Raleway" panose="020B0604020202020204" charset="0"/>
              </a:rPr>
              <a:t>.</a:t>
            </a:r>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1CA803E-EA11-239F-7DF6-B7CA8E7778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7803A2-D659-536C-8447-ACFC35143A1F}"/>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3C2C6154-206E-606F-29F1-733A800FB37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FAE6E2A5-0E84-A70B-FEE8-85A09AB88A8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3</a:t>
            </a:r>
          </a:p>
        </p:txBody>
      </p:sp>
      <p:sp>
        <p:nvSpPr>
          <p:cNvPr id="8" name="TextBox 8">
            <a:extLst>
              <a:ext uri="{FF2B5EF4-FFF2-40B4-BE49-F238E27FC236}">
                <a16:creationId xmlns:a16="http://schemas.microsoft.com/office/drawing/2014/main" id="{FD49E5A6-942E-125A-1CD3-EF0C225C46D8}"/>
              </a:ext>
            </a:extLst>
          </p:cNvPr>
          <p:cNvSpPr txBox="1"/>
          <p:nvPr/>
        </p:nvSpPr>
        <p:spPr>
          <a:xfrm>
            <a:off x="4267200" y="391654"/>
            <a:ext cx="102108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CORA METHODOLOGY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E3D53EB0-3FA6-7FE6-670C-0AD6758F0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5" name="TextBox 4">
            <a:extLst>
              <a:ext uri="{FF2B5EF4-FFF2-40B4-BE49-F238E27FC236}">
                <a16:creationId xmlns:a16="http://schemas.microsoft.com/office/drawing/2014/main" id="{06E331F1-F130-338F-C20D-5F9F8D807913}"/>
              </a:ext>
            </a:extLst>
          </p:cNvPr>
          <p:cNvSpPr txBox="1"/>
          <p:nvPr/>
        </p:nvSpPr>
        <p:spPr>
          <a:xfrm>
            <a:off x="3048" y="1553795"/>
            <a:ext cx="10058400" cy="7772577"/>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800" b="1" dirty="0">
                <a:latin typeface="Raleway" panose="020B0604020202020204" charset="0"/>
              </a:rPr>
              <a:t>Data Collection</a:t>
            </a:r>
            <a:r>
              <a:rPr lang="en-IN" sz="2800" dirty="0">
                <a:latin typeface="Raleway" panose="020B0604020202020204" charset="0"/>
              </a:rPr>
              <a:t> – CFPB Consumer Complaint Database </a:t>
            </a:r>
          </a:p>
          <a:p>
            <a:pPr marL="342900" lvl="0" indent="-342900" algn="just">
              <a:lnSpc>
                <a:spcPct val="150000"/>
              </a:lnSpc>
              <a:buFont typeface="Arial" panose="020B0604020202020204" pitchFamily="34" charset="0"/>
              <a:buChar char="•"/>
            </a:pPr>
            <a:r>
              <a:rPr lang="en-IN" sz="2800" b="1" dirty="0">
                <a:latin typeface="Raleway" panose="020B0604020202020204" charset="0"/>
              </a:rPr>
              <a:t>Data Preprocessing</a:t>
            </a:r>
            <a:r>
              <a:rPr lang="en-IN" sz="2800" dirty="0">
                <a:latin typeface="Raleway" panose="020B0604020202020204" charset="0"/>
              </a:rPr>
              <a:t> – Cleaning, duplicate removal and missing-value handling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BERT Processing</a:t>
            </a:r>
            <a:r>
              <a:rPr lang="en-IN" sz="2800" dirty="0">
                <a:latin typeface="Raleway" panose="020B0604020202020204" charset="0"/>
              </a:rPr>
              <a:t> – Tokenization and contextual representation </a:t>
            </a:r>
          </a:p>
          <a:p>
            <a:pPr marL="342900" lvl="0" indent="-342900" algn="just">
              <a:lnSpc>
                <a:spcPct val="150000"/>
              </a:lnSpc>
              <a:buFont typeface="Arial" panose="020B0604020202020204" pitchFamily="34" charset="0"/>
              <a:buChar char="•"/>
            </a:pPr>
            <a:r>
              <a:rPr lang="en-IN" sz="2800" b="1" dirty="0">
                <a:latin typeface="Raleway" panose="020B0604020202020204" charset="0"/>
              </a:rPr>
              <a:t>Hierarchical Classification</a:t>
            </a:r>
            <a:r>
              <a:rPr lang="en-IN" sz="2800" dirty="0">
                <a:latin typeface="Raleway" panose="020B0604020202020204" charset="0"/>
              </a:rPr>
              <a:t> – Product → Sub-product → Issue → Sub-issue </a:t>
            </a:r>
          </a:p>
          <a:p>
            <a:pPr marL="342900" lvl="0" indent="-342900" algn="just">
              <a:lnSpc>
                <a:spcPct val="150000"/>
              </a:lnSpc>
              <a:buFont typeface="Arial" panose="020B0604020202020204" pitchFamily="34" charset="0"/>
              <a:buChar char="•"/>
            </a:pPr>
            <a:r>
              <a:rPr lang="en-IN" sz="2800" b="1" dirty="0">
                <a:latin typeface="Raleway" panose="020B0604020202020204" charset="0"/>
              </a:rPr>
              <a:t>Business Rule Engine</a:t>
            </a:r>
            <a:r>
              <a:rPr lang="en-IN" sz="2800" dirty="0">
                <a:latin typeface="Raleway" panose="020B0604020202020204" charset="0"/>
              </a:rPr>
              <a:t> – Priority and department-wise routing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Complaint Management</a:t>
            </a:r>
            <a:r>
              <a:rPr lang="en-IN" sz="2800" dirty="0">
                <a:latin typeface="Raleway" panose="020B0604020202020204" charset="0"/>
              </a:rPr>
              <a:t> – Ticket generation, employee assignment and tracking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Dashboard</a:t>
            </a:r>
            <a:r>
              <a:rPr lang="en-IN" sz="2800" dirty="0">
                <a:latin typeface="Raleway" panose="020B0604020202020204" charset="0"/>
              </a:rPr>
              <a:t> – Customer and administrator monitoring</a:t>
            </a:r>
          </a:p>
        </p:txBody>
      </p:sp>
      <p:pic>
        <p:nvPicPr>
          <p:cNvPr id="12" name="Picture 11">
            <a:extLst>
              <a:ext uri="{FF2B5EF4-FFF2-40B4-BE49-F238E27FC236}">
                <a16:creationId xmlns:a16="http://schemas.microsoft.com/office/drawing/2014/main" id="{20C7E012-A30F-1C40-A46D-FF9885DB41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2773" y="1712159"/>
            <a:ext cx="7060477" cy="7444165"/>
          </a:xfrm>
          <a:prstGeom prst="rect">
            <a:avLst/>
          </a:prstGeom>
        </p:spPr>
      </p:pic>
    </p:spTree>
    <p:extLst>
      <p:ext uri="{BB962C8B-B14F-4D97-AF65-F5344CB8AC3E}">
        <p14:creationId xmlns:p14="http://schemas.microsoft.com/office/powerpoint/2010/main" val="10044371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10" name="TextBox 9">
            <a:extLst>
              <a:ext uri="{FF2B5EF4-FFF2-40B4-BE49-F238E27FC236}">
                <a16:creationId xmlns:a16="http://schemas.microsoft.com/office/drawing/2014/main" id="{142ABE14-4CE2-D352-02B3-D033290E4C66}"/>
              </a:ext>
            </a:extLst>
          </p:cNvPr>
          <p:cNvSpPr txBox="1"/>
          <p:nvPr/>
        </p:nvSpPr>
        <p:spPr>
          <a:xfrm>
            <a:off x="6810258" y="60893"/>
            <a:ext cx="5029200" cy="938719"/>
          </a:xfrm>
          <a:prstGeom prst="rect">
            <a:avLst/>
          </a:prstGeom>
          <a:noFill/>
        </p:spPr>
        <p:txBody>
          <a:bodyPr wrap="square">
            <a:spAutoFit/>
          </a:bodyPr>
          <a:lstStyle/>
          <a:p>
            <a:pPr algn="just">
              <a:lnSpc>
                <a:spcPct val="150000"/>
              </a:lnSpc>
            </a:pPr>
            <a:r>
              <a:rPr lang="en-IN" sz="4000" dirty="0">
                <a:latin typeface="Prata" panose="020B0604020202020204" charset="0"/>
              </a:rPr>
              <a:t>SYSTEM DESIGN</a:t>
            </a:r>
          </a:p>
        </p:txBody>
      </p: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13" name="Picture 12">
            <a:extLst>
              <a:ext uri="{FF2B5EF4-FFF2-40B4-BE49-F238E27FC236}">
                <a16:creationId xmlns:a16="http://schemas.microsoft.com/office/drawing/2014/main" id="{5F9DA419-E973-22B1-E5B5-7F868E8EDC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 y="192920"/>
            <a:ext cx="7239000" cy="8933353"/>
          </a:xfrm>
          <a:prstGeom prst="rect">
            <a:avLst/>
          </a:prstGeom>
        </p:spPr>
      </p:pic>
      <p:sp>
        <p:nvSpPr>
          <p:cNvPr id="16" name="Oval 15">
            <a:extLst>
              <a:ext uri="{FF2B5EF4-FFF2-40B4-BE49-F238E27FC236}">
                <a16:creationId xmlns:a16="http://schemas.microsoft.com/office/drawing/2014/main" id="{A096A3A1-79AA-5E58-5A1C-239259A73AE5}"/>
              </a:ext>
            </a:extLst>
          </p:cNvPr>
          <p:cNvSpPr/>
          <p:nvPr/>
        </p:nvSpPr>
        <p:spPr>
          <a:xfrm>
            <a:off x="6410208" y="1379650"/>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8F92B45-4266-3758-47BD-E5985E9E6D26}"/>
              </a:ext>
            </a:extLst>
          </p:cNvPr>
          <p:cNvSpPr txBox="1"/>
          <p:nvPr/>
        </p:nvSpPr>
        <p:spPr>
          <a:xfrm>
            <a:off x="7000758" y="1480996"/>
            <a:ext cx="4648200" cy="3894592"/>
          </a:xfrm>
          <a:prstGeom prst="rect">
            <a:avLst/>
          </a:prstGeom>
          <a:noFill/>
        </p:spPr>
        <p:txBody>
          <a:bodyPr wrap="square">
            <a:spAutoFit/>
          </a:bodyPr>
          <a:lstStyle/>
          <a:p>
            <a:pPr algn="ctr">
              <a:lnSpc>
                <a:spcPct val="150000"/>
              </a:lnSpc>
              <a:buNone/>
            </a:pPr>
            <a:r>
              <a:rPr lang="en-IN" sz="2800" b="1" dirty="0">
                <a:latin typeface="Raleway" panose="020B0604020202020204" charset="0"/>
              </a:rPr>
              <a:t>CUSTOMER</a:t>
            </a:r>
            <a:endParaRPr lang="en-IN" sz="2800" dirty="0">
              <a:latin typeface="Raleway" panose="020B0604020202020204" charset="0"/>
            </a:endParaRPr>
          </a:p>
          <a:p>
            <a:pPr marL="342900" lvl="0" indent="-342900" algn="ctr">
              <a:lnSpc>
                <a:spcPct val="150000"/>
              </a:lnSpc>
              <a:buFont typeface="Arial" panose="020B0604020202020204" pitchFamily="34" charset="0"/>
              <a:buChar char="•"/>
            </a:pPr>
            <a:r>
              <a:rPr lang="en-IN" sz="2800" dirty="0">
                <a:latin typeface="Raleway" panose="020B0604020202020204" charset="0"/>
              </a:rPr>
              <a:t>Register / Login </a:t>
            </a:r>
          </a:p>
          <a:p>
            <a:pPr marL="342900" lvl="0" indent="-342900" algn="ctr">
              <a:lnSpc>
                <a:spcPct val="150000"/>
              </a:lnSpc>
              <a:buFont typeface="Arial" panose="020B0604020202020204" pitchFamily="34" charset="0"/>
              <a:buChar char="•"/>
            </a:pPr>
            <a:r>
              <a:rPr lang="en-IN" sz="2800" dirty="0">
                <a:latin typeface="Raleway" panose="020B0604020202020204" charset="0"/>
              </a:rPr>
              <a:t>Submit complaint </a:t>
            </a:r>
          </a:p>
          <a:p>
            <a:pPr marL="342900" lvl="0" indent="-342900" algn="ctr">
              <a:lnSpc>
                <a:spcPct val="150000"/>
              </a:lnSpc>
              <a:buFont typeface="Arial" panose="020B0604020202020204" pitchFamily="34" charset="0"/>
              <a:buChar char="•"/>
            </a:pPr>
            <a:r>
              <a:rPr lang="en-IN" sz="2800" dirty="0">
                <a:latin typeface="Raleway" panose="020B0604020202020204" charset="0"/>
              </a:rPr>
              <a:t>Receive Ticket ID </a:t>
            </a:r>
          </a:p>
          <a:p>
            <a:pPr marL="342900" lvl="0" indent="-342900" algn="ctr">
              <a:lnSpc>
                <a:spcPct val="150000"/>
              </a:lnSpc>
              <a:buFont typeface="Arial" panose="020B0604020202020204" pitchFamily="34" charset="0"/>
              <a:buChar char="•"/>
            </a:pPr>
            <a:r>
              <a:rPr lang="en-IN" sz="2800" dirty="0">
                <a:latin typeface="Raleway" panose="020B0604020202020204" charset="0"/>
              </a:rPr>
              <a:t>View complaint details </a:t>
            </a:r>
          </a:p>
          <a:p>
            <a:pPr marL="342900" lvl="0" indent="-342900" algn="ctr">
              <a:lnSpc>
                <a:spcPct val="150000"/>
              </a:lnSpc>
              <a:buFont typeface="Arial" panose="020B0604020202020204" pitchFamily="34" charset="0"/>
              <a:buChar char="•"/>
            </a:pPr>
            <a:r>
              <a:rPr lang="en-IN" sz="2800" dirty="0">
                <a:latin typeface="Raleway" panose="020B0604020202020204" charset="0"/>
              </a:rPr>
              <a:t>Track complaint status</a:t>
            </a:r>
          </a:p>
        </p:txBody>
      </p:sp>
      <p:sp>
        <p:nvSpPr>
          <p:cNvPr id="20" name="Oval 19">
            <a:extLst>
              <a:ext uri="{FF2B5EF4-FFF2-40B4-BE49-F238E27FC236}">
                <a16:creationId xmlns:a16="http://schemas.microsoft.com/office/drawing/2014/main" id="{745D69C1-41A0-168A-1F6F-953F18D22DA8}"/>
              </a:ext>
            </a:extLst>
          </p:cNvPr>
          <p:cNvSpPr/>
          <p:nvPr/>
        </p:nvSpPr>
        <p:spPr>
          <a:xfrm>
            <a:off x="12176045" y="1344171"/>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94C5BC6-8955-DCC2-0D7A-1BD8DD6E4EE0}"/>
              </a:ext>
            </a:extLst>
          </p:cNvPr>
          <p:cNvSpPr txBox="1"/>
          <p:nvPr/>
        </p:nvSpPr>
        <p:spPr>
          <a:xfrm>
            <a:off x="12052300" y="1540432"/>
            <a:ext cx="5959929" cy="3894592"/>
          </a:xfrm>
          <a:prstGeom prst="rect">
            <a:avLst/>
          </a:prstGeom>
          <a:noFill/>
        </p:spPr>
        <p:txBody>
          <a:bodyPr wrap="square">
            <a:spAutoFit/>
          </a:bodyPr>
          <a:lstStyle/>
          <a:p>
            <a:pPr algn="ctr">
              <a:lnSpc>
                <a:spcPct val="150000"/>
              </a:lnSpc>
            </a:pPr>
            <a:r>
              <a:rPr lang="en-IN" sz="2800" b="1" dirty="0">
                <a:latin typeface="Raleway" panose="020B0604020202020204" charset="0"/>
              </a:rPr>
              <a:t>EMPLOYEE</a:t>
            </a:r>
            <a:endParaRPr lang="en-IN" sz="2800" dirty="0">
              <a:latin typeface="Raleway" panose="020B0604020202020204" charset="0"/>
            </a:endParaRPr>
          </a:p>
          <a:p>
            <a:pPr marL="457200" lvl="0" indent="-457200" algn="ctr">
              <a:lnSpc>
                <a:spcPct val="150000"/>
              </a:lnSpc>
              <a:buFont typeface="Arial" panose="020B0604020202020204" pitchFamily="34" charset="0"/>
              <a:buChar char="•"/>
            </a:pPr>
            <a:r>
              <a:rPr lang="en-IN" sz="2800" dirty="0">
                <a:latin typeface="Raleway" panose="020B0604020202020204" charset="0"/>
              </a:rPr>
              <a:t>Login </a:t>
            </a:r>
          </a:p>
          <a:p>
            <a:pPr marL="457200" lvl="0" indent="-457200" algn="ctr">
              <a:lnSpc>
                <a:spcPct val="150000"/>
              </a:lnSpc>
              <a:buFont typeface="Arial" panose="020B0604020202020204" pitchFamily="34" charset="0"/>
              <a:buChar char="•"/>
            </a:pPr>
            <a:r>
              <a:rPr lang="en-IN" sz="2800" dirty="0">
                <a:latin typeface="Raleway" panose="020B0604020202020204" charset="0"/>
              </a:rPr>
              <a:t>View assigned complaints </a:t>
            </a:r>
          </a:p>
          <a:p>
            <a:pPr marL="457200" lvl="0" indent="-457200" algn="ctr">
              <a:lnSpc>
                <a:spcPct val="150000"/>
              </a:lnSpc>
              <a:buFont typeface="Arial" panose="020B0604020202020204" pitchFamily="34" charset="0"/>
              <a:buChar char="•"/>
            </a:pPr>
            <a:r>
              <a:rPr lang="en-IN" sz="2800" dirty="0">
                <a:latin typeface="Raleway" panose="020B0604020202020204" charset="0"/>
              </a:rPr>
              <a:t>Update complaint status </a:t>
            </a:r>
          </a:p>
          <a:p>
            <a:pPr marL="457200" lvl="0" indent="-457200" algn="ctr">
              <a:lnSpc>
                <a:spcPct val="150000"/>
              </a:lnSpc>
              <a:buFont typeface="Arial" panose="020B0604020202020204" pitchFamily="34" charset="0"/>
              <a:buChar char="•"/>
            </a:pPr>
            <a:r>
              <a:rPr lang="en-IN" sz="2800" dirty="0">
                <a:latin typeface="Raleway" panose="020B0604020202020204" charset="0"/>
              </a:rPr>
              <a:t>Add remarks </a:t>
            </a:r>
          </a:p>
          <a:p>
            <a:pPr marL="457200" lvl="0" indent="-457200" algn="ctr">
              <a:lnSpc>
                <a:spcPct val="150000"/>
              </a:lnSpc>
              <a:buFont typeface="Arial" panose="020B0604020202020204" pitchFamily="34" charset="0"/>
              <a:buChar char="•"/>
            </a:pPr>
            <a:r>
              <a:rPr lang="en-IN" sz="2800" dirty="0">
                <a:latin typeface="Raleway" panose="020B0604020202020204" charset="0"/>
              </a:rPr>
              <a:t>Resolve complaints</a:t>
            </a:r>
          </a:p>
        </p:txBody>
      </p:sp>
      <p:sp>
        <p:nvSpPr>
          <p:cNvPr id="26" name="Oval 25">
            <a:extLst>
              <a:ext uri="{FF2B5EF4-FFF2-40B4-BE49-F238E27FC236}">
                <a16:creationId xmlns:a16="http://schemas.microsoft.com/office/drawing/2014/main" id="{C3817F78-3E5B-E6F9-AC62-0665CCE9EB75}"/>
              </a:ext>
            </a:extLst>
          </p:cNvPr>
          <p:cNvSpPr/>
          <p:nvPr/>
        </p:nvSpPr>
        <p:spPr>
          <a:xfrm>
            <a:off x="9324858" y="4536521"/>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87211A10-E398-872A-499C-0AA5EEE5AC71}"/>
              </a:ext>
            </a:extLst>
          </p:cNvPr>
          <p:cNvSpPr txBox="1"/>
          <p:nvPr/>
        </p:nvSpPr>
        <p:spPr>
          <a:xfrm>
            <a:off x="9432845" y="6488140"/>
            <a:ext cx="5638800" cy="2557175"/>
          </a:xfrm>
          <a:prstGeom prst="rect">
            <a:avLst/>
          </a:prstGeom>
          <a:noFill/>
        </p:spPr>
        <p:txBody>
          <a:bodyPr wrap="square">
            <a:spAutoFit/>
          </a:bodyPr>
          <a:lstStyle/>
          <a:p>
            <a:pPr algn="ctr">
              <a:lnSpc>
                <a:spcPct val="150000"/>
              </a:lnSpc>
              <a:buNone/>
            </a:pPr>
            <a:r>
              <a:rPr lang="en-IN" sz="2750" b="1" dirty="0">
                <a:latin typeface="Raleway" panose="020B0604020202020204" charset="0"/>
              </a:rPr>
              <a:t>ADMINISTRATOR</a:t>
            </a:r>
            <a:endParaRPr lang="en-IN" sz="2750" dirty="0">
              <a:latin typeface="Raleway" panose="020B0604020202020204" charset="0"/>
            </a:endParaRPr>
          </a:p>
          <a:p>
            <a:pPr marL="342900" lvl="0" indent="-342900" algn="ctr">
              <a:lnSpc>
                <a:spcPct val="150000"/>
              </a:lnSpc>
              <a:buFont typeface="Arial" panose="020B0604020202020204" pitchFamily="34" charset="0"/>
              <a:buChar char="•"/>
            </a:pPr>
            <a:r>
              <a:rPr lang="en-IN" sz="2750" dirty="0">
                <a:latin typeface="Raleway" panose="020B0604020202020204" charset="0"/>
              </a:rPr>
              <a:t>Manage everything</a:t>
            </a:r>
          </a:p>
          <a:p>
            <a:pPr marL="342900" lvl="0" indent="-342900" algn="ctr">
              <a:lnSpc>
                <a:spcPct val="150000"/>
              </a:lnSpc>
              <a:buFont typeface="Arial" panose="020B0604020202020204" pitchFamily="34" charset="0"/>
              <a:buChar char="•"/>
            </a:pPr>
            <a:r>
              <a:rPr lang="en-IN" sz="2750" dirty="0">
                <a:latin typeface="Raleway" panose="020B0604020202020204" charset="0"/>
              </a:rPr>
              <a:t>View complaint statistics </a:t>
            </a:r>
          </a:p>
          <a:p>
            <a:pPr marL="342900" lvl="0" indent="-342900" algn="ctr">
              <a:lnSpc>
                <a:spcPct val="150000"/>
              </a:lnSpc>
              <a:buFont typeface="Arial" panose="020B0604020202020204" pitchFamily="34" charset="0"/>
              <a:buChar char="•"/>
            </a:pPr>
            <a:r>
              <a:rPr lang="en-IN" sz="2750" dirty="0">
                <a:latin typeface="Raleway" panose="020B0604020202020204" charset="0"/>
              </a:rPr>
              <a:t>Monitor system analytics</a:t>
            </a:r>
          </a:p>
        </p:txBody>
      </p:sp>
    </p:spTree>
    <p:extLst>
      <p:ext uri="{BB962C8B-B14F-4D97-AF65-F5344CB8AC3E}">
        <p14:creationId xmlns:p14="http://schemas.microsoft.com/office/powerpoint/2010/main" val="28840316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4E65551-1B7D-1125-2E3C-8678A8687E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ADEECB6-3A16-E16D-5AF4-45E720545156}"/>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D4C432A8-DC1F-AE5E-4FCF-74542504D48A}"/>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34DEDD20-7C50-624C-B7B4-C78688EFB6A8}"/>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5</a:t>
            </a:r>
          </a:p>
        </p:txBody>
      </p:sp>
      <p:sp>
        <p:nvSpPr>
          <p:cNvPr id="8" name="TextBox 8">
            <a:extLst>
              <a:ext uri="{FF2B5EF4-FFF2-40B4-BE49-F238E27FC236}">
                <a16:creationId xmlns:a16="http://schemas.microsoft.com/office/drawing/2014/main" id="{74854169-C8AC-C0E9-0A2E-65B6A975B069}"/>
              </a:ext>
            </a:extLst>
          </p:cNvPr>
          <p:cNvSpPr txBox="1"/>
          <p:nvPr/>
        </p:nvSpPr>
        <p:spPr>
          <a:xfrm>
            <a:off x="3200400" y="661570"/>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MODERN TOOLS AND TECHNOLOGY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C5B1D9BF-958B-ECC5-8710-593BFBB6F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4" name="Table 3">
            <a:extLst>
              <a:ext uri="{FF2B5EF4-FFF2-40B4-BE49-F238E27FC236}">
                <a16:creationId xmlns:a16="http://schemas.microsoft.com/office/drawing/2014/main" id="{4B76C7B7-6AB2-4090-E639-979E4D61F317}"/>
              </a:ext>
            </a:extLst>
          </p:cNvPr>
          <p:cNvGraphicFramePr>
            <a:graphicFrameLocks noGrp="1"/>
          </p:cNvGraphicFramePr>
          <p:nvPr>
            <p:extLst>
              <p:ext uri="{D42A27DB-BD31-4B8C-83A1-F6EECF244321}">
                <p14:modId xmlns:p14="http://schemas.microsoft.com/office/powerpoint/2010/main" val="4263650059"/>
              </p:ext>
            </p:extLst>
          </p:nvPr>
        </p:nvGraphicFramePr>
        <p:xfrm>
          <a:off x="495300" y="1851496"/>
          <a:ext cx="17297400" cy="7045951"/>
        </p:xfrm>
        <a:graphic>
          <a:graphicData uri="http://schemas.openxmlformats.org/drawingml/2006/table">
            <a:tbl>
              <a:tblPr>
                <a:tableStyleId>{2D5ABB26-0587-4C30-8999-92F81FD0307C}</a:tableStyleId>
              </a:tblPr>
              <a:tblGrid>
                <a:gridCol w="5765800">
                  <a:extLst>
                    <a:ext uri="{9D8B030D-6E8A-4147-A177-3AD203B41FA5}">
                      <a16:colId xmlns:a16="http://schemas.microsoft.com/office/drawing/2014/main" val="3555361444"/>
                    </a:ext>
                  </a:extLst>
                </a:gridCol>
                <a:gridCol w="5765800">
                  <a:extLst>
                    <a:ext uri="{9D8B030D-6E8A-4147-A177-3AD203B41FA5}">
                      <a16:colId xmlns:a16="http://schemas.microsoft.com/office/drawing/2014/main" val="2021328104"/>
                    </a:ext>
                  </a:extLst>
                </a:gridCol>
                <a:gridCol w="5765800">
                  <a:extLst>
                    <a:ext uri="{9D8B030D-6E8A-4147-A177-3AD203B41FA5}">
                      <a16:colId xmlns:a16="http://schemas.microsoft.com/office/drawing/2014/main" val="2070030726"/>
                    </a:ext>
                  </a:extLst>
                </a:gridCol>
              </a:tblGrid>
              <a:tr h="640541">
                <a:tc>
                  <a:txBody>
                    <a:bodyPr/>
                    <a:lstStyle/>
                    <a:p>
                      <a:pPr algn="ctr">
                        <a:buNone/>
                      </a:pPr>
                      <a:r>
                        <a:rPr lang="en-IN" sz="3200" dirty="0">
                          <a:latin typeface="Raleway" panose="020B0604020202020204" charset="0"/>
                        </a:rPr>
                        <a:t>Category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200" dirty="0">
                          <a:latin typeface="Raleway" panose="020B0604020202020204" charset="0"/>
                        </a:rPr>
                        <a:t>Technology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200" dirty="0">
                          <a:latin typeface="Raleway" panose="020B0604020202020204" charset="0"/>
                        </a:rPr>
                        <a:t>Purpose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4140195424"/>
                  </a:ext>
                </a:extLst>
              </a:tr>
              <a:tr h="640541">
                <a:tc>
                  <a:txBody>
                    <a:bodyPr/>
                    <a:lstStyle/>
                    <a:p>
                      <a:pPr>
                        <a:buNone/>
                      </a:pPr>
                      <a:r>
                        <a:rPr lang="en-IN" sz="3200">
                          <a:latin typeface="Raleway" panose="020B0604020202020204" charset="0"/>
                        </a:rPr>
                        <a:t>Programming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Python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755881685"/>
                  </a:ext>
                </a:extLst>
              </a:tr>
              <a:tr h="640541">
                <a:tc>
                  <a:txBody>
                    <a:bodyPr/>
                    <a:lstStyle/>
                    <a:p>
                      <a:pPr>
                        <a:buNone/>
                      </a:pPr>
                      <a:r>
                        <a:rPr lang="en-IN" sz="3200">
                          <a:latin typeface="Raleway" panose="020B0604020202020204" charset="0"/>
                        </a:rPr>
                        <a:t>AI/NLP</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BERT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Complaint classification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344235839"/>
                  </a:ext>
                </a:extLst>
              </a:tr>
              <a:tr h="640541">
                <a:tc>
                  <a:txBody>
                    <a:bodyPr/>
                    <a:lstStyle/>
                    <a:p>
                      <a:pPr>
                        <a:buNone/>
                      </a:pPr>
                      <a:r>
                        <a:rPr lang="en-IN" sz="3200">
                          <a:latin typeface="Raleway" panose="020B0604020202020204" charset="0"/>
                        </a:rPr>
                        <a:t>Deep Learning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err="1">
                          <a:latin typeface="Raleway" panose="020B0604020202020204" charset="0"/>
                        </a:rPr>
                        <a:t>PyTorch</a:t>
                      </a:r>
                      <a:endParaRPr lang="en-IN" sz="3200" dirty="0">
                        <a:latin typeface="Raleway" panose="020B0604020202020204" charset="0"/>
                      </a:endParaRP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Model training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512877144"/>
                  </a:ext>
                </a:extLst>
              </a:tr>
              <a:tr h="640541">
                <a:tc>
                  <a:txBody>
                    <a:bodyPr/>
                    <a:lstStyle/>
                    <a:p>
                      <a:pPr>
                        <a:buNone/>
                      </a:pPr>
                      <a:r>
                        <a:rPr lang="en-IN" sz="3200">
                          <a:latin typeface="Raleway" panose="020B0604020202020204" charset="0"/>
                        </a:rPr>
                        <a:t>NLP Library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Hugging Face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BERT &amp; tokenizer</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856612746"/>
                  </a:ext>
                </a:extLst>
              </a:tr>
              <a:tr h="640541">
                <a:tc>
                  <a:txBody>
                    <a:bodyPr/>
                    <a:lstStyle/>
                    <a:p>
                      <a:pPr>
                        <a:buNone/>
                      </a:pPr>
                      <a:r>
                        <a:rPr lang="en-IN" sz="3200">
                          <a:latin typeface="Raleway" panose="020B0604020202020204" charset="0"/>
                        </a:rPr>
                        <a:t>Backend</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Flask</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Web application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1734762104"/>
                  </a:ext>
                </a:extLst>
              </a:tr>
              <a:tr h="640541">
                <a:tc>
                  <a:txBody>
                    <a:bodyPr/>
                    <a:lstStyle/>
                    <a:p>
                      <a:pPr>
                        <a:buNone/>
                      </a:pPr>
                      <a:r>
                        <a:rPr lang="en-IN" sz="3200">
                          <a:latin typeface="Raleway" panose="020B0604020202020204" charset="0"/>
                        </a:rPr>
                        <a:t>Database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MySQL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Data &amp; ticket storage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02796335"/>
                  </a:ext>
                </a:extLst>
              </a:tr>
              <a:tr h="640541">
                <a:tc>
                  <a:txBody>
                    <a:bodyPr/>
                    <a:lstStyle/>
                    <a:p>
                      <a:pPr>
                        <a:buNone/>
                      </a:pPr>
                      <a:r>
                        <a:rPr lang="en-IN" sz="3200">
                          <a:latin typeface="Raleway" panose="020B0604020202020204" charset="0"/>
                        </a:rPr>
                        <a:t>Frontend</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HTML, CSS, Bootstrap</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User interface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24171106"/>
                  </a:ext>
                </a:extLst>
              </a:tr>
              <a:tr h="640541">
                <a:tc>
                  <a:txBody>
                    <a:bodyPr/>
                    <a:lstStyle/>
                    <a:p>
                      <a:pPr>
                        <a:buNone/>
                      </a:pPr>
                      <a:r>
                        <a:rPr lang="en-IN" sz="3200">
                          <a:latin typeface="Raleway" panose="020B0604020202020204" charset="0"/>
                        </a:rPr>
                        <a:t>Scripting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JavaScript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Interactivity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051194590"/>
                  </a:ext>
                </a:extLst>
              </a:tr>
              <a:tr h="640541">
                <a:tc>
                  <a:txBody>
                    <a:bodyPr/>
                    <a:lstStyle/>
                    <a:p>
                      <a:pPr>
                        <a:buNone/>
                      </a:pPr>
                      <a:r>
                        <a:rPr lang="en-IN" sz="3200">
                          <a:latin typeface="Raleway" panose="020B0604020202020204" charset="0"/>
                        </a:rPr>
                        <a:t>Data Processing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Pandas, NumPy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Data preparation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689020197"/>
                  </a:ext>
                </a:extLst>
              </a:tr>
              <a:tr h="640541">
                <a:tc>
                  <a:txBody>
                    <a:bodyPr/>
                    <a:lstStyle/>
                    <a:p>
                      <a:pPr>
                        <a:buNone/>
                      </a:pPr>
                      <a:r>
                        <a:rPr lang="en-IN" sz="3200">
                          <a:latin typeface="Raleway" panose="020B0604020202020204" charset="0"/>
                        </a:rPr>
                        <a:t>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VS Code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Project 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984009755"/>
                  </a:ext>
                </a:extLst>
              </a:tr>
            </a:tbl>
          </a:graphicData>
        </a:graphic>
      </p:graphicFrame>
    </p:spTree>
    <p:extLst>
      <p:ext uri="{BB962C8B-B14F-4D97-AF65-F5344CB8AC3E}">
        <p14:creationId xmlns:p14="http://schemas.microsoft.com/office/powerpoint/2010/main" val="353987534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60EEDAE-7F1D-A1AC-113D-7AF04C7F27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2D7B49-EA41-8DB9-7288-FEAEF1E060D3}"/>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09B98F0D-1F6D-282E-7A13-6379E9BA2936}"/>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7806836-292C-80D4-BA86-C2251A1863D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6</a:t>
            </a:r>
          </a:p>
        </p:txBody>
      </p:sp>
      <p:sp>
        <p:nvSpPr>
          <p:cNvPr id="8" name="TextBox 8">
            <a:extLst>
              <a:ext uri="{FF2B5EF4-FFF2-40B4-BE49-F238E27FC236}">
                <a16:creationId xmlns:a16="http://schemas.microsoft.com/office/drawing/2014/main" id="{0731DFDB-8CEB-A30D-B58F-89A927E2FF3E}"/>
              </a:ext>
            </a:extLst>
          </p:cNvPr>
          <p:cNvSpPr txBox="1"/>
          <p:nvPr/>
        </p:nvSpPr>
        <p:spPr>
          <a:xfrm>
            <a:off x="3009900" y="207356"/>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LITERATURE MODEL COMPARISON</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D66DE4EB-C0A2-9247-4EDA-BD547321A1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5" name="Table 4">
            <a:extLst>
              <a:ext uri="{FF2B5EF4-FFF2-40B4-BE49-F238E27FC236}">
                <a16:creationId xmlns:a16="http://schemas.microsoft.com/office/drawing/2014/main" id="{F3623F20-C1A8-3DB9-CB5D-CA6494FD25BA}"/>
              </a:ext>
            </a:extLst>
          </p:cNvPr>
          <p:cNvGraphicFramePr>
            <a:graphicFrameLocks noGrp="1"/>
          </p:cNvGraphicFramePr>
          <p:nvPr>
            <p:extLst>
              <p:ext uri="{D42A27DB-BD31-4B8C-83A1-F6EECF244321}">
                <p14:modId xmlns:p14="http://schemas.microsoft.com/office/powerpoint/2010/main" val="2720055976"/>
              </p:ext>
            </p:extLst>
          </p:nvPr>
        </p:nvGraphicFramePr>
        <p:xfrm>
          <a:off x="266700" y="1120705"/>
          <a:ext cx="17754600" cy="8129866"/>
        </p:xfrm>
        <a:graphic>
          <a:graphicData uri="http://schemas.openxmlformats.org/drawingml/2006/table">
            <a:tbl>
              <a:tblPr>
                <a:tableStyleId>{2D5ABB26-0587-4C30-8999-92F81FD0307C}</a:tableStyleId>
              </a:tblPr>
              <a:tblGrid>
                <a:gridCol w="3550920">
                  <a:extLst>
                    <a:ext uri="{9D8B030D-6E8A-4147-A177-3AD203B41FA5}">
                      <a16:colId xmlns:a16="http://schemas.microsoft.com/office/drawing/2014/main" val="1054801018"/>
                    </a:ext>
                  </a:extLst>
                </a:gridCol>
                <a:gridCol w="3550920">
                  <a:extLst>
                    <a:ext uri="{9D8B030D-6E8A-4147-A177-3AD203B41FA5}">
                      <a16:colId xmlns:a16="http://schemas.microsoft.com/office/drawing/2014/main" val="2401237658"/>
                    </a:ext>
                  </a:extLst>
                </a:gridCol>
                <a:gridCol w="3550920">
                  <a:extLst>
                    <a:ext uri="{9D8B030D-6E8A-4147-A177-3AD203B41FA5}">
                      <a16:colId xmlns:a16="http://schemas.microsoft.com/office/drawing/2014/main" val="3745114526"/>
                    </a:ext>
                  </a:extLst>
                </a:gridCol>
                <a:gridCol w="3550920">
                  <a:extLst>
                    <a:ext uri="{9D8B030D-6E8A-4147-A177-3AD203B41FA5}">
                      <a16:colId xmlns:a16="http://schemas.microsoft.com/office/drawing/2014/main" val="81689029"/>
                    </a:ext>
                  </a:extLst>
                </a:gridCol>
                <a:gridCol w="3550920">
                  <a:extLst>
                    <a:ext uri="{9D8B030D-6E8A-4147-A177-3AD203B41FA5}">
                      <a16:colId xmlns:a16="http://schemas.microsoft.com/office/drawing/2014/main" val="613520823"/>
                    </a:ext>
                  </a:extLst>
                </a:gridCol>
              </a:tblGrid>
              <a:tr h="709454">
                <a:tc>
                  <a:txBody>
                    <a:bodyPr/>
                    <a:lstStyle/>
                    <a:p>
                      <a:pPr algn="ctr">
                        <a:buNone/>
                      </a:pPr>
                      <a:r>
                        <a:rPr lang="en-IN" sz="2800" dirty="0">
                          <a:latin typeface="Raleway" panose="020B0604020202020204" charset="0"/>
                        </a:rPr>
                        <a:t>Model</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Project Goal</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What the Model Does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Reported Result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Limitation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3524233524"/>
                  </a:ext>
                </a:extLst>
              </a:tr>
              <a:tr h="1013507">
                <a:tc>
                  <a:txBody>
                    <a:bodyPr/>
                    <a:lstStyle/>
                    <a:p>
                      <a:pPr>
                        <a:buNone/>
                      </a:pPr>
                      <a:r>
                        <a:rPr lang="en-IN" sz="2800" dirty="0">
                          <a:latin typeface="Raleway" panose="020B0604020202020204" charset="0"/>
                        </a:rPr>
                        <a:t>LDA</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Discover complaint topics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Finds hidden topics in complaint text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No Accuracy/F1 reported</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Topic discovery only</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106237634"/>
                  </a:ext>
                </a:extLst>
              </a:tr>
              <a:tr h="1317559">
                <a:tc>
                  <a:txBody>
                    <a:bodyPr/>
                    <a:lstStyle/>
                    <a:p>
                      <a:pPr>
                        <a:buNone/>
                      </a:pPr>
                      <a:r>
                        <a:rPr lang="en-IN" sz="2800" dirty="0" err="1">
                          <a:latin typeface="Raleway" panose="020B0604020202020204" charset="0"/>
                        </a:rPr>
                        <a:t>BERTopic</a:t>
                      </a:r>
                      <a:endParaRPr lang="en-IN" sz="2800" dirty="0">
                        <a:latin typeface="Raleway" panose="020B0604020202020204" charset="0"/>
                      </a:endParaRP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Identify meaningful complaint topics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Uses BERT embeddings to group similar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Topic coherence metrics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No detailed classification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590946599"/>
                  </a:ext>
                </a:extLst>
              </a:tr>
              <a:tr h="1317559">
                <a:tc>
                  <a:txBody>
                    <a:bodyPr/>
                    <a:lstStyle/>
                    <a:p>
                      <a:pPr>
                        <a:buNone/>
                      </a:pPr>
                      <a:r>
                        <a:rPr lang="en-IN" sz="2800">
                          <a:latin typeface="Raleway" panose="020B0604020202020204" charset="0"/>
                        </a:rPr>
                        <a:t>Emotion Detection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Analyze customer emotions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Detects emotional patterns in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Emotion metrics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Does not classify complaint hierarchy</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11637341"/>
                  </a:ext>
                </a:extLst>
              </a:tr>
              <a:tr h="1621610">
                <a:tc>
                  <a:txBody>
                    <a:bodyPr/>
                    <a:lstStyle/>
                    <a:p>
                      <a:pPr>
                        <a:buNone/>
                      </a:pPr>
                      <a:r>
                        <a:rPr lang="en-IN" sz="2800">
                          <a:latin typeface="Raleway" panose="020B0604020202020204" charset="0"/>
                        </a:rPr>
                        <a:t>LSTM</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Classify complaint text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Learns sequential patterns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Transformer approach performed better in cited comparison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Weaker contextual understanding</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1139406704"/>
                  </a:ext>
                </a:extLst>
              </a:tr>
              <a:tr h="1317559">
                <a:tc>
                  <a:txBody>
                    <a:bodyPr/>
                    <a:lstStyle/>
                    <a:p>
                      <a:pPr>
                        <a:buNone/>
                      </a:pPr>
                      <a:r>
                        <a:rPr lang="en-IN" sz="2800">
                          <a:latin typeface="Raleway" panose="020B0604020202020204" charset="0"/>
                        </a:rPr>
                        <a:t>LLM Classification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Classify financial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Assigns complaints to broad categories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77.7% Accuracy / 77.64% F1</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Broad classification; no routing</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995374098"/>
                  </a:ext>
                </a:extLst>
              </a:tr>
            </a:tbl>
          </a:graphicData>
        </a:graphic>
      </p:graphicFrame>
    </p:spTree>
    <p:extLst>
      <p:ext uri="{BB962C8B-B14F-4D97-AF65-F5344CB8AC3E}">
        <p14:creationId xmlns:p14="http://schemas.microsoft.com/office/powerpoint/2010/main" val="92507218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7</a:t>
            </a:r>
          </a:p>
        </p:txBody>
      </p:sp>
      <p:sp>
        <p:nvSpPr>
          <p:cNvPr id="10" name="TextBox 9">
            <a:extLst>
              <a:ext uri="{FF2B5EF4-FFF2-40B4-BE49-F238E27FC236}">
                <a16:creationId xmlns:a16="http://schemas.microsoft.com/office/drawing/2014/main" id="{142ABE14-4CE2-D352-02B3-D033290E4C66}"/>
              </a:ext>
            </a:extLst>
          </p:cNvPr>
          <p:cNvSpPr txBox="1"/>
          <p:nvPr/>
        </p:nvSpPr>
        <p:spPr>
          <a:xfrm>
            <a:off x="70107" y="723900"/>
            <a:ext cx="8381995" cy="8304966"/>
          </a:xfrm>
          <a:prstGeom prst="rect">
            <a:avLst/>
          </a:prstGeom>
          <a:noFill/>
        </p:spPr>
        <p:txBody>
          <a:bodyPr wrap="square">
            <a:spAutoFit/>
          </a:bodyPr>
          <a:lstStyle/>
          <a:p>
            <a:pPr>
              <a:lnSpc>
                <a:spcPct val="150000"/>
              </a:lnSpc>
            </a:pPr>
            <a:r>
              <a:rPr lang="en-IN" sz="3600" b="1" dirty="0">
                <a:latin typeface="Raleway" panose="020B0604020202020204" charset="0"/>
              </a:rPr>
              <a:t>Dataset</a:t>
            </a:r>
          </a:p>
          <a:p>
            <a:pPr>
              <a:lnSpc>
                <a:spcPct val="150000"/>
              </a:lnSpc>
            </a:pPr>
            <a:r>
              <a:rPr lang="en-IN" sz="3600" b="1" dirty="0">
                <a:latin typeface="Raleway" panose="020B0604020202020204" charset="0"/>
              </a:rPr>
              <a:t>CFPB Consumer Complaint Database</a:t>
            </a:r>
            <a:endParaRPr lang="en-IN" sz="3600" dirty="0">
              <a:latin typeface="Raleway" panose="020B0604020202020204" charset="0"/>
            </a:endParaRPr>
          </a:p>
          <a:p>
            <a:pPr lvl="0">
              <a:lnSpc>
                <a:spcPct val="150000"/>
              </a:lnSpc>
            </a:pPr>
            <a:r>
              <a:rPr lang="en-IN" sz="3600" b="1" dirty="0">
                <a:latin typeface="Raleway" panose="020B0604020202020204" charset="0"/>
              </a:rPr>
              <a:t>Training:</a:t>
            </a:r>
            <a:r>
              <a:rPr lang="en-IN" sz="3600" dirty="0">
                <a:latin typeface="Raleway" panose="020B0604020202020204" charset="0"/>
              </a:rPr>
              <a:t> 10,157 complaints </a:t>
            </a:r>
          </a:p>
          <a:p>
            <a:pPr lvl="0">
              <a:lnSpc>
                <a:spcPct val="150000"/>
              </a:lnSpc>
            </a:pPr>
            <a:r>
              <a:rPr lang="en-IN" sz="3600" b="1" dirty="0">
                <a:latin typeface="Raleway" panose="020B0604020202020204" charset="0"/>
              </a:rPr>
              <a:t>Validation:</a:t>
            </a:r>
            <a:r>
              <a:rPr lang="en-IN" sz="3600" dirty="0">
                <a:latin typeface="Raleway" panose="020B0604020202020204" charset="0"/>
              </a:rPr>
              <a:t> 2,540 complaints </a:t>
            </a:r>
          </a:p>
          <a:p>
            <a:pPr lvl="0">
              <a:lnSpc>
                <a:spcPct val="150000"/>
              </a:lnSpc>
            </a:pPr>
            <a:r>
              <a:rPr lang="en-IN" sz="3600" b="1" dirty="0">
                <a:latin typeface="Raleway" panose="020B0604020202020204" charset="0"/>
              </a:rPr>
              <a:t>Input (X):</a:t>
            </a:r>
            <a:r>
              <a:rPr lang="en-IN" sz="3600" dirty="0">
                <a:latin typeface="Raleway" panose="020B0604020202020204" charset="0"/>
              </a:rPr>
              <a:t> Complaint Narrative </a:t>
            </a:r>
          </a:p>
          <a:p>
            <a:pPr lvl="0">
              <a:lnSpc>
                <a:spcPct val="150000"/>
              </a:lnSpc>
            </a:pPr>
            <a:r>
              <a:rPr lang="en-IN" sz="3600" b="1" dirty="0">
                <a:latin typeface="Raleway" panose="020B0604020202020204" charset="0"/>
              </a:rPr>
              <a:t>Output (Y):</a:t>
            </a:r>
            <a:r>
              <a:rPr lang="en-IN" sz="3600" dirty="0">
                <a:latin typeface="Raleway" panose="020B0604020202020204" charset="0"/>
              </a:rPr>
              <a:t> </a:t>
            </a:r>
          </a:p>
          <a:p>
            <a:pPr lvl="1">
              <a:lnSpc>
                <a:spcPct val="150000"/>
              </a:lnSpc>
            </a:pPr>
            <a:r>
              <a:rPr lang="en-IN" sz="3600" dirty="0">
                <a:latin typeface="Raleway" panose="020B0604020202020204" charset="0"/>
              </a:rPr>
              <a:t>Product </a:t>
            </a:r>
          </a:p>
          <a:p>
            <a:pPr lvl="1">
              <a:lnSpc>
                <a:spcPct val="150000"/>
              </a:lnSpc>
            </a:pPr>
            <a:r>
              <a:rPr lang="en-IN" sz="3600" dirty="0">
                <a:latin typeface="Raleway" panose="020B0604020202020204" charset="0"/>
              </a:rPr>
              <a:t>Sub-product </a:t>
            </a:r>
          </a:p>
          <a:p>
            <a:pPr lvl="1">
              <a:lnSpc>
                <a:spcPct val="150000"/>
              </a:lnSpc>
            </a:pPr>
            <a:r>
              <a:rPr lang="en-IN" sz="3600" dirty="0">
                <a:latin typeface="Raleway" panose="020B0604020202020204" charset="0"/>
              </a:rPr>
              <a:t>Issue </a:t>
            </a:r>
          </a:p>
          <a:p>
            <a:pPr lvl="1">
              <a:lnSpc>
                <a:spcPct val="150000"/>
              </a:lnSpc>
            </a:pPr>
            <a:r>
              <a:rPr lang="en-IN" sz="3600" dirty="0">
                <a:latin typeface="Raleway" panose="020B0604020202020204" charset="0"/>
              </a:rPr>
              <a:t>Sub-issue</a:t>
            </a:r>
          </a:p>
        </p:txBody>
      </p:sp>
      <p:cxnSp>
        <p:nvCxnSpPr>
          <p:cNvPr id="12" name="Straight Connector 11">
            <a:extLst>
              <a:ext uri="{FF2B5EF4-FFF2-40B4-BE49-F238E27FC236}">
                <a16:creationId xmlns:a16="http://schemas.microsoft.com/office/drawing/2014/main" id="{5CFB6F50-4C6C-4B20-8BAE-523111547168}"/>
              </a:ext>
            </a:extLst>
          </p:cNvPr>
          <p:cNvCxnSpPr>
            <a:cxnSpLocks/>
          </p:cNvCxnSpPr>
          <p:nvPr/>
        </p:nvCxnSpPr>
        <p:spPr>
          <a:xfrm>
            <a:off x="8534400" y="0"/>
            <a:ext cx="0" cy="10287000"/>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6" name="TextBox 5">
            <a:extLst>
              <a:ext uri="{FF2B5EF4-FFF2-40B4-BE49-F238E27FC236}">
                <a16:creationId xmlns:a16="http://schemas.microsoft.com/office/drawing/2014/main" id="{A648DEDE-B2EE-56DB-E9E7-8079BDF30B42}"/>
              </a:ext>
            </a:extLst>
          </p:cNvPr>
          <p:cNvSpPr txBox="1"/>
          <p:nvPr/>
        </p:nvSpPr>
        <p:spPr>
          <a:xfrm>
            <a:off x="8967867" y="-212324"/>
            <a:ext cx="9225642" cy="9608464"/>
          </a:xfrm>
          <a:prstGeom prst="rect">
            <a:avLst/>
          </a:prstGeom>
          <a:noFill/>
        </p:spPr>
        <p:txBody>
          <a:bodyPr wrap="square">
            <a:spAutoFit/>
          </a:bodyPr>
          <a:lstStyle/>
          <a:p>
            <a:pPr>
              <a:lnSpc>
                <a:spcPct val="150000"/>
              </a:lnSpc>
            </a:pPr>
            <a:r>
              <a:rPr lang="en-IN" sz="3200" b="1" dirty="0">
                <a:latin typeface="Raleway" panose="020B0604020202020204" charset="0"/>
              </a:rPr>
              <a:t>Implemented Components</a:t>
            </a:r>
          </a:p>
          <a:p>
            <a:pPr>
              <a:lnSpc>
                <a:spcPct val="150000"/>
              </a:lnSpc>
            </a:pPr>
            <a:r>
              <a:rPr lang="en-IN" sz="3200" b="1" dirty="0">
                <a:latin typeface="Raleway" panose="020B0604020202020204" charset="0"/>
              </a:rPr>
              <a:t>AI Module</a:t>
            </a:r>
            <a:endParaRPr lang="en-IN" sz="3200" dirty="0">
              <a:latin typeface="Raleway" panose="020B0604020202020204" charset="0"/>
            </a:endParaRPr>
          </a:p>
          <a:p>
            <a:pPr marL="457200" lvl="0" indent="-457200">
              <a:lnSpc>
                <a:spcPct val="150000"/>
              </a:lnSpc>
              <a:buFont typeface="Arial" panose="020B0604020202020204" pitchFamily="34" charset="0"/>
              <a:buChar char="•"/>
            </a:pPr>
            <a:r>
              <a:rPr lang="en-IN" sz="3200" dirty="0">
                <a:latin typeface="Raleway" panose="020B0604020202020204" charset="0"/>
              </a:rPr>
              <a:t>Text preprocessing </a:t>
            </a:r>
          </a:p>
          <a:p>
            <a:pPr marL="457200" lvl="0" indent="-457200">
              <a:lnSpc>
                <a:spcPct val="150000"/>
              </a:lnSpc>
              <a:buFont typeface="Arial" panose="020B0604020202020204" pitchFamily="34" charset="0"/>
              <a:buChar char="•"/>
            </a:pPr>
            <a:r>
              <a:rPr lang="en-IN" sz="3200" dirty="0">
                <a:latin typeface="Raleway" panose="020B0604020202020204" charset="0"/>
              </a:rPr>
              <a:t>BERT tokenization </a:t>
            </a:r>
          </a:p>
          <a:p>
            <a:pPr marL="457200" lvl="0" indent="-457200">
              <a:lnSpc>
                <a:spcPct val="150000"/>
              </a:lnSpc>
              <a:buFont typeface="Arial" panose="020B0604020202020204" pitchFamily="34" charset="0"/>
              <a:buChar char="•"/>
            </a:pPr>
            <a:r>
              <a:rPr lang="en-IN" sz="3200" dirty="0">
                <a:latin typeface="Raleway" panose="020B0604020202020204" charset="0"/>
              </a:rPr>
              <a:t>Fine-tuned BERT </a:t>
            </a:r>
          </a:p>
          <a:p>
            <a:pPr marL="457200" lvl="0" indent="-457200">
              <a:lnSpc>
                <a:spcPct val="150000"/>
              </a:lnSpc>
              <a:buFont typeface="Arial" panose="020B0604020202020204" pitchFamily="34" charset="0"/>
              <a:buChar char="•"/>
            </a:pPr>
            <a:r>
              <a:rPr lang="en-IN" sz="3200" dirty="0">
                <a:latin typeface="Raleway" panose="020B0604020202020204" charset="0"/>
              </a:rPr>
              <a:t>Four-level classification </a:t>
            </a:r>
          </a:p>
          <a:p>
            <a:pPr marL="457200" lvl="0" indent="-457200">
              <a:lnSpc>
                <a:spcPct val="150000"/>
              </a:lnSpc>
              <a:buFont typeface="Arial" panose="020B0604020202020204" pitchFamily="34" charset="0"/>
              <a:buChar char="•"/>
            </a:pPr>
            <a:r>
              <a:rPr lang="en-IN" sz="3200" dirty="0">
                <a:latin typeface="Raleway" panose="020B0604020202020204" charset="0"/>
              </a:rPr>
              <a:t>Class imbalance handling </a:t>
            </a:r>
          </a:p>
          <a:p>
            <a:pPr>
              <a:lnSpc>
                <a:spcPct val="150000"/>
              </a:lnSpc>
            </a:pPr>
            <a:r>
              <a:rPr lang="en-IN" sz="3200" b="1" dirty="0">
                <a:latin typeface="Raleway" panose="020B0604020202020204" charset="0"/>
              </a:rPr>
              <a:t>Application Module</a:t>
            </a:r>
            <a:endParaRPr lang="en-IN" sz="3200" dirty="0">
              <a:latin typeface="Raleway" panose="020B0604020202020204" charset="0"/>
            </a:endParaRPr>
          </a:p>
          <a:p>
            <a:pPr marL="457200" lvl="0" indent="-457200">
              <a:lnSpc>
                <a:spcPct val="150000"/>
              </a:lnSpc>
              <a:buFont typeface="Arial" panose="020B0604020202020204" pitchFamily="34" charset="0"/>
              <a:buChar char="•"/>
            </a:pPr>
            <a:r>
              <a:rPr lang="en-IN" sz="3200" dirty="0">
                <a:latin typeface="Raleway" panose="020B0604020202020204" charset="0"/>
              </a:rPr>
              <a:t>Complaint submission </a:t>
            </a:r>
          </a:p>
          <a:p>
            <a:pPr marL="457200" lvl="0" indent="-457200">
              <a:lnSpc>
                <a:spcPct val="150000"/>
              </a:lnSpc>
              <a:buFont typeface="Arial" panose="020B0604020202020204" pitchFamily="34" charset="0"/>
              <a:buChar char="•"/>
            </a:pPr>
            <a:r>
              <a:rPr lang="en-IN" sz="3200" dirty="0">
                <a:latin typeface="Raleway" panose="020B0604020202020204" charset="0"/>
              </a:rPr>
              <a:t>Ticket generation </a:t>
            </a:r>
          </a:p>
          <a:p>
            <a:pPr marL="457200" lvl="0" indent="-457200">
              <a:lnSpc>
                <a:spcPct val="150000"/>
              </a:lnSpc>
              <a:buFont typeface="Arial" panose="020B0604020202020204" pitchFamily="34" charset="0"/>
              <a:buChar char="•"/>
            </a:pPr>
            <a:r>
              <a:rPr lang="en-IN" sz="3200" dirty="0">
                <a:latin typeface="Raleway" panose="020B0604020202020204" charset="0"/>
              </a:rPr>
              <a:t>Business-rule routing </a:t>
            </a:r>
          </a:p>
          <a:p>
            <a:pPr marL="457200" lvl="0" indent="-457200">
              <a:lnSpc>
                <a:spcPct val="150000"/>
              </a:lnSpc>
              <a:buFont typeface="Arial" panose="020B0604020202020204" pitchFamily="34" charset="0"/>
              <a:buChar char="•"/>
            </a:pPr>
            <a:r>
              <a:rPr lang="en-IN" sz="3200" dirty="0">
                <a:latin typeface="Raleway" panose="020B0604020202020204" charset="0"/>
              </a:rPr>
              <a:t>Employee assignment </a:t>
            </a:r>
          </a:p>
          <a:p>
            <a:pPr marL="457200" lvl="0" indent="-457200">
              <a:lnSpc>
                <a:spcPct val="150000"/>
              </a:lnSpc>
              <a:buFont typeface="Arial" panose="020B0604020202020204" pitchFamily="34" charset="0"/>
              <a:buChar char="•"/>
            </a:pPr>
            <a:r>
              <a:rPr lang="en-IN" sz="3200" dirty="0">
                <a:latin typeface="Raleway" panose="020B0604020202020204" charset="0"/>
              </a:rPr>
              <a:t>Status tracking</a:t>
            </a:r>
          </a:p>
        </p:txBody>
      </p:sp>
    </p:spTree>
    <p:extLst>
      <p:ext uri="{BB962C8B-B14F-4D97-AF65-F5344CB8AC3E}">
        <p14:creationId xmlns:p14="http://schemas.microsoft.com/office/powerpoint/2010/main" val="59265338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02817748-1FE8-D738-F7F3-4F848CD9B4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B9951C-6E15-F200-EF51-012561B4904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C091385-3522-0B4F-A326-45D7F9919BD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87757B2-87DB-F8E1-37A1-D4299CAE183C}"/>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8" name="TextBox 8">
            <a:extLst>
              <a:ext uri="{FF2B5EF4-FFF2-40B4-BE49-F238E27FC236}">
                <a16:creationId xmlns:a16="http://schemas.microsoft.com/office/drawing/2014/main" id="{44FA8FBB-2F1C-83A9-F7C7-9218615DB4E1}"/>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RESULTS</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D2EF669F-DF2D-49DE-6014-5ABDD9EB5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6" name="TextBox 5">
            <a:extLst>
              <a:ext uri="{FF2B5EF4-FFF2-40B4-BE49-F238E27FC236}">
                <a16:creationId xmlns:a16="http://schemas.microsoft.com/office/drawing/2014/main" id="{7414EF58-642B-4DCC-C972-96E7B8258421}"/>
              </a:ext>
            </a:extLst>
          </p:cNvPr>
          <p:cNvSpPr txBox="1"/>
          <p:nvPr/>
        </p:nvSpPr>
        <p:spPr>
          <a:xfrm>
            <a:off x="5562600" y="1233858"/>
            <a:ext cx="9144000" cy="646331"/>
          </a:xfrm>
          <a:prstGeom prst="rect">
            <a:avLst/>
          </a:prstGeom>
          <a:noFill/>
        </p:spPr>
        <p:txBody>
          <a:bodyPr wrap="square">
            <a:spAutoFit/>
          </a:bodyPr>
          <a:lstStyle/>
          <a:p>
            <a:r>
              <a:rPr lang="en-IN" sz="3600" dirty="0">
                <a:latin typeface="Raleway" panose="020B0604020202020204" charset="0"/>
              </a:rPr>
              <a:t>CORA-BERT Baseline Performance</a:t>
            </a:r>
          </a:p>
        </p:txBody>
      </p:sp>
      <p:graphicFrame>
        <p:nvGraphicFramePr>
          <p:cNvPr id="9" name="Table 8">
            <a:extLst>
              <a:ext uri="{FF2B5EF4-FFF2-40B4-BE49-F238E27FC236}">
                <a16:creationId xmlns:a16="http://schemas.microsoft.com/office/drawing/2014/main" id="{9E371EBA-A8DC-AF09-0238-7390C3E7F83C}"/>
              </a:ext>
            </a:extLst>
          </p:cNvPr>
          <p:cNvGraphicFramePr>
            <a:graphicFrameLocks noGrp="1"/>
          </p:cNvGraphicFramePr>
          <p:nvPr>
            <p:extLst>
              <p:ext uri="{D42A27DB-BD31-4B8C-83A1-F6EECF244321}">
                <p14:modId xmlns:p14="http://schemas.microsoft.com/office/powerpoint/2010/main" val="1224130851"/>
              </p:ext>
            </p:extLst>
          </p:nvPr>
        </p:nvGraphicFramePr>
        <p:xfrm>
          <a:off x="457200" y="2628740"/>
          <a:ext cx="17221200" cy="4673737"/>
        </p:xfrm>
        <a:graphic>
          <a:graphicData uri="http://schemas.openxmlformats.org/drawingml/2006/table">
            <a:tbl>
              <a:tblPr>
                <a:tableStyleId>{2D5ABB26-0587-4C30-8999-92F81FD0307C}</a:tableStyleId>
              </a:tblPr>
              <a:tblGrid>
                <a:gridCol w="3444240">
                  <a:extLst>
                    <a:ext uri="{9D8B030D-6E8A-4147-A177-3AD203B41FA5}">
                      <a16:colId xmlns:a16="http://schemas.microsoft.com/office/drawing/2014/main" val="1127823921"/>
                    </a:ext>
                  </a:extLst>
                </a:gridCol>
                <a:gridCol w="3444240">
                  <a:extLst>
                    <a:ext uri="{9D8B030D-6E8A-4147-A177-3AD203B41FA5}">
                      <a16:colId xmlns:a16="http://schemas.microsoft.com/office/drawing/2014/main" val="3365848858"/>
                    </a:ext>
                  </a:extLst>
                </a:gridCol>
                <a:gridCol w="3444240">
                  <a:extLst>
                    <a:ext uri="{9D8B030D-6E8A-4147-A177-3AD203B41FA5}">
                      <a16:colId xmlns:a16="http://schemas.microsoft.com/office/drawing/2014/main" val="3489349536"/>
                    </a:ext>
                  </a:extLst>
                </a:gridCol>
                <a:gridCol w="3444240">
                  <a:extLst>
                    <a:ext uri="{9D8B030D-6E8A-4147-A177-3AD203B41FA5}">
                      <a16:colId xmlns:a16="http://schemas.microsoft.com/office/drawing/2014/main" val="2173169432"/>
                    </a:ext>
                  </a:extLst>
                </a:gridCol>
                <a:gridCol w="3444240">
                  <a:extLst>
                    <a:ext uri="{9D8B030D-6E8A-4147-A177-3AD203B41FA5}">
                      <a16:colId xmlns:a16="http://schemas.microsoft.com/office/drawing/2014/main" val="3876729876"/>
                    </a:ext>
                  </a:extLst>
                </a:gridCol>
              </a:tblGrid>
              <a:tr h="1422441">
                <a:tc>
                  <a:txBody>
                    <a:bodyPr/>
                    <a:lstStyle/>
                    <a:p>
                      <a:pPr algn="ctr">
                        <a:buNone/>
                      </a:pPr>
                      <a:r>
                        <a:rPr lang="en-IN" sz="3600" dirty="0">
                          <a:latin typeface="Raleway" panose="020B0604020202020204" charset="0"/>
                        </a:rPr>
                        <a:t>Classification Level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Accuracy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Precision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Recall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F1-Score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1508450843"/>
                  </a:ext>
                </a:extLst>
              </a:tr>
              <a:tr h="812824">
                <a:tc>
                  <a:txBody>
                    <a:bodyPr/>
                    <a:lstStyle/>
                    <a:p>
                      <a:pPr>
                        <a:buNone/>
                      </a:pPr>
                      <a:r>
                        <a:rPr lang="en-IN" sz="3600">
                          <a:latin typeface="Raleway" panose="020B0604020202020204" charset="0"/>
                        </a:rPr>
                        <a:t>Product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83.19%</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83.88%</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83.19%</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83.17%</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417528892"/>
                  </a:ext>
                </a:extLst>
              </a:tr>
              <a:tr h="812824">
                <a:tc>
                  <a:txBody>
                    <a:bodyPr/>
                    <a:lstStyle/>
                    <a:p>
                      <a:pPr>
                        <a:buNone/>
                      </a:pPr>
                      <a:r>
                        <a:rPr lang="en-IN" sz="3600">
                          <a:latin typeface="Raleway" panose="020B0604020202020204" charset="0"/>
                        </a:rPr>
                        <a:t>Sub-product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75.04%</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69.15%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75.04%</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71.42%</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4242073379"/>
                  </a:ext>
                </a:extLst>
              </a:tr>
              <a:tr h="812824">
                <a:tc>
                  <a:txBody>
                    <a:bodyPr/>
                    <a:lstStyle/>
                    <a:p>
                      <a:pPr>
                        <a:buNone/>
                      </a:pPr>
                      <a:r>
                        <a:rPr lang="en-IN" sz="3600">
                          <a:latin typeface="Raleway" panose="020B0604020202020204" charset="0"/>
                        </a:rPr>
                        <a:t>Issue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47.95%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41.52%</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47.95%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40.43%</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142965732"/>
                  </a:ext>
                </a:extLst>
              </a:tr>
              <a:tr h="812824">
                <a:tc>
                  <a:txBody>
                    <a:bodyPr/>
                    <a:lstStyle/>
                    <a:p>
                      <a:pPr>
                        <a:buNone/>
                      </a:pPr>
                      <a:r>
                        <a:rPr lang="en-IN" sz="3600">
                          <a:latin typeface="Raleway" panose="020B0604020202020204" charset="0"/>
                        </a:rPr>
                        <a:t>Sub-issue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26.06%</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16.05%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26.06%</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16.98%</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564071458"/>
                  </a:ext>
                </a:extLst>
              </a:tr>
            </a:tbl>
          </a:graphicData>
        </a:graphic>
      </p:graphicFrame>
    </p:spTree>
    <p:extLst>
      <p:ext uri="{BB962C8B-B14F-4D97-AF65-F5344CB8AC3E}">
        <p14:creationId xmlns:p14="http://schemas.microsoft.com/office/powerpoint/2010/main" val="108142144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D0FDA12-D324-4EA0-F3B7-57D07BA179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BE657B-F6A5-BC77-3F97-E6BFD72FB61E}"/>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2EEC097-CE5A-4779-9791-2553EB0E500C}"/>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E40C7693-87E7-DB49-F973-C0C6891EC395}"/>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9</a:t>
            </a:r>
          </a:p>
        </p:txBody>
      </p:sp>
      <p:sp>
        <p:nvSpPr>
          <p:cNvPr id="8" name="TextBox 8">
            <a:extLst>
              <a:ext uri="{FF2B5EF4-FFF2-40B4-BE49-F238E27FC236}">
                <a16:creationId xmlns:a16="http://schemas.microsoft.com/office/drawing/2014/main" id="{F55CE5E5-CA70-0933-B033-3F1654592CFE}"/>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OUTPUT</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7325417B-05ED-F43D-4805-BBB5E1540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5" name="Picture 4">
            <a:extLst>
              <a:ext uri="{FF2B5EF4-FFF2-40B4-BE49-F238E27FC236}">
                <a16:creationId xmlns:a16="http://schemas.microsoft.com/office/drawing/2014/main" id="{E91DC455-F157-448A-76A1-82F116A39D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1" y="2095500"/>
            <a:ext cx="9306103" cy="4648200"/>
          </a:xfrm>
          <a:prstGeom prst="rect">
            <a:avLst/>
          </a:prstGeom>
        </p:spPr>
      </p:pic>
      <p:pic>
        <p:nvPicPr>
          <p:cNvPr id="12" name="Picture 11">
            <a:extLst>
              <a:ext uri="{FF2B5EF4-FFF2-40B4-BE49-F238E27FC236}">
                <a16:creationId xmlns:a16="http://schemas.microsoft.com/office/drawing/2014/main" id="{BE148D7C-846D-8900-A7BE-A8290B44ED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98082" y="2095499"/>
            <a:ext cx="8897455" cy="4648201"/>
          </a:xfrm>
          <a:prstGeom prst="rect">
            <a:avLst/>
          </a:prstGeom>
        </p:spPr>
      </p:pic>
    </p:spTree>
    <p:extLst>
      <p:ext uri="{BB962C8B-B14F-4D97-AF65-F5344CB8AC3E}">
        <p14:creationId xmlns:p14="http://schemas.microsoft.com/office/powerpoint/2010/main" val="301854579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4533900"/>
            <a:ext cx="12734892" cy="1535036"/>
          </a:xfrm>
          <a:prstGeom prst="rect">
            <a:avLst/>
          </a:prstGeom>
        </p:spPr>
        <p:txBody>
          <a:bodyPr lIns="0" tIns="0" rIns="0" bIns="0" rtlCol="0" anchor="t">
            <a:spAutoFit/>
          </a:bodyPr>
          <a:lstStyle/>
          <a:p>
            <a:pPr algn="ctr">
              <a:lnSpc>
                <a:spcPts val="11400"/>
              </a:lnSpc>
            </a:pPr>
            <a:r>
              <a:rPr lang="en-US" sz="11400" dirty="0">
                <a:solidFill>
                  <a:srgbClr val="344E41"/>
                </a:solidFill>
                <a:latin typeface="Prata"/>
                <a:ea typeface="Prata"/>
                <a:cs typeface="Prata"/>
                <a:sym typeface="Prata"/>
              </a:rPr>
              <a:t>THANK YOU</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10" name="TextBox 7">
            <a:extLst>
              <a:ext uri="{FF2B5EF4-FFF2-40B4-BE49-F238E27FC236}">
                <a16:creationId xmlns:a16="http://schemas.microsoft.com/office/drawing/2014/main" id="{AF43FBDD-9F48-12BC-B0E4-FE89E68007E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10</a:t>
            </a:r>
          </a:p>
        </p:txBody>
      </p:sp>
      <p:pic>
        <p:nvPicPr>
          <p:cNvPr id="12" name="Picture 11">
            <a:extLst>
              <a:ext uri="{FF2B5EF4-FFF2-40B4-BE49-F238E27FC236}">
                <a16:creationId xmlns:a16="http://schemas.microsoft.com/office/drawing/2014/main" id="{4FE86A1C-5221-116F-EF68-28F5BEEAE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750</TotalTime>
  <Words>890</Words>
  <Application>Microsoft Office PowerPoint</Application>
  <PresentationFormat>Custom</PresentationFormat>
  <Paragraphs>203</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Raleway</vt:lpstr>
      <vt:lpstr>Calibri</vt:lpstr>
      <vt:lpstr>Prata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dc:creator>Kundana Mani</dc:creator>
  <cp:lastModifiedBy>Kundana Mani B</cp:lastModifiedBy>
  <cp:revision>14</cp:revision>
  <dcterms:created xsi:type="dcterms:W3CDTF">2006-08-16T00:00:00Z</dcterms:created>
  <dcterms:modified xsi:type="dcterms:W3CDTF">2026-09-19T04:39:44Z</dcterms:modified>
  <dc:identifier>DAHRUIAc530</dc:identifier>
</cp:coreProperties>
</file>